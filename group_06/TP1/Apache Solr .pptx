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Nunito"/>
      <p:regular r:id="rId39"/>
      <p:bold r:id="rId40"/>
      <p:italic r:id="rId41"/>
      <p:boldItalic r:id="rId42"/>
    </p:embeddedFont>
    <p:embeddedFont>
      <p:font typeface="Maven Pro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.fntdata"/><Relationship Id="rId20" Type="http://schemas.openxmlformats.org/officeDocument/2006/relationships/slide" Target="slides/slide15.xml"/><Relationship Id="rId42" Type="http://schemas.openxmlformats.org/officeDocument/2006/relationships/font" Target="fonts/Nunito-boldItalic.fntdata"/><Relationship Id="rId41" Type="http://schemas.openxmlformats.org/officeDocument/2006/relationships/font" Target="fonts/Nunito-italic.fntdata"/><Relationship Id="rId22" Type="http://schemas.openxmlformats.org/officeDocument/2006/relationships/slide" Target="slides/slide17.xml"/><Relationship Id="rId44" Type="http://schemas.openxmlformats.org/officeDocument/2006/relationships/font" Target="fonts/MavenPro-bold.fntdata"/><Relationship Id="rId21" Type="http://schemas.openxmlformats.org/officeDocument/2006/relationships/slide" Target="slides/slide16.xml"/><Relationship Id="rId43" Type="http://schemas.openxmlformats.org/officeDocument/2006/relationships/font" Target="fonts/MavenPro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Nunito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f62ca3d3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f62ca3d3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f8f280ffc8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f8f280ffc8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f62ca3d3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f62ca3d3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f8f280ffc8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f8f280ffc8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fb573362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fb573362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f8f280ffc8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f8f280ffc8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b6845ec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b6845ec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fb6845ecd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fb6845ecd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b6845ecd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fb6845ec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fb83f5be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fb83f5be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fb83f5bed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fb83f5be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f62ca3d3f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f62ca3d3f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f8f280ffc8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f8f280ffc8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f62ca3d3f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f62ca3d3f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f62ca3d3f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f62ca3d3f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62ca3d3f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62ca3d3f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f62ca3d3f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f62ca3d3f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f62ca3d3f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f62ca3d3f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62ca3d3f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f62ca3d3f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f62ca3d3f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f62ca3d3f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f95cd5613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f95cd561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f95cd5613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f95cd561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f95cd561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f95cd561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f8f280ffc8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f8f280ffc8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f95cd5613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f95cd5613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f62ca3d3f3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f62ca3d3f3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f95cd561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f95cd561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f8f280ffc8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f8f280ffc8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1.png"/><Relationship Id="rId13" Type="http://schemas.openxmlformats.org/officeDocument/2006/relationships/image" Target="../media/image22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1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9.png"/><Relationship Id="rId13" Type="http://schemas.openxmlformats.org/officeDocument/2006/relationships/image" Target="../media/image1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980351"/>
            <a:ext cx="42555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/>
              <a:t>Apache Solr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Trabalho prático 1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Sistemas Distribuídos </a:t>
            </a:r>
            <a:endParaRPr sz="20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343950"/>
            <a:ext cx="4255500" cy="14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Grupo: 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Barbara Neves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Brenda Sotero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Eduardo Lopes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Introdução ao Solr</a:t>
            </a:r>
            <a:endParaRPr sz="4000"/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00" y="3231050"/>
            <a:ext cx="2868699" cy="19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090350" y="914600"/>
            <a:ext cx="6963300" cy="35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Solr é a plataforma de pesquisa corporativa de código aberto popular e rápida do projeto Apache Lucene. 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Solr fornece uma pesquisa distribuída e replicação de índice, com mais escalabilidade e tolerância a falhas. 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É amplamente utilizado para pesquisa de texto na web, conseguindo indexar dados de texto ou metadados. 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Ele permite realizar a análise textual em certos conteúdos e pesquisas para determinar similaridade entre palavras, entender e buscar por sinônimo e pontuar cada resultado de acordo com sua correspondência a consulta.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988050" y="902250"/>
            <a:ext cx="71679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Seus principais recursos incluem:</a:t>
            </a:r>
            <a:br>
              <a:rPr lang="pt-BR" sz="2000"/>
            </a:b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Pesquisa de texto completo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Indexação em tempo real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Destaque de ocorrências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Pesquisa facetada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Manipulação de documentos ricos (por exemplo, Word e PDF)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Integração de banco de dados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Pesquisa geoespacial 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Fácil</a:t>
            </a:r>
            <a:r>
              <a:rPr lang="pt-BR" sz="2000"/>
              <a:t> de </a:t>
            </a:r>
            <a:r>
              <a:rPr lang="pt-BR" sz="2000"/>
              <a:t>configurar</a:t>
            </a:r>
            <a:r>
              <a:rPr lang="pt-BR" sz="2000"/>
              <a:t> e extremamente flexível</a:t>
            </a:r>
            <a:endParaRPr sz="2000"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988050" y="902250"/>
            <a:ext cx="71679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Solr é executado como um servidor de pesquisa completo independente. Ele usa a biblioteca de pesquisa Lucene em seu núcleo para indexação e pesquisa de texto completo. E possui APIs HTTP, XML e JSON que o tornam utilizável a partir das linguagens de programação mais populares.</a:t>
            </a:r>
            <a:endParaRPr sz="2100"/>
          </a:p>
        </p:txBody>
      </p:sp>
      <p:pic>
        <p:nvPicPr>
          <p:cNvPr id="302" name="Google Shape;3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787350" y="1533275"/>
            <a:ext cx="7569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/>
              <a:t>Pontos </a:t>
            </a:r>
            <a:br>
              <a:rPr lang="pt-BR" sz="4100"/>
            </a:br>
            <a:r>
              <a:rPr lang="pt-BR" sz="4100"/>
              <a:t>Positivos x Negativos</a:t>
            </a:r>
            <a:endParaRPr sz="4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988050" y="902250"/>
            <a:ext cx="71679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Solr fornece recursos de pesquisa e navegação de muitos dos maiores sites da Internet do mundo.</a:t>
            </a:r>
            <a:br>
              <a:rPr lang="pt-BR" sz="2000"/>
            </a:b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Instagram (Pesquisa geoespacial)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Nasa (Pesquisa em banco de dados)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Netflix </a:t>
            </a:r>
            <a:r>
              <a:rPr lang="pt-BR" sz="2000"/>
              <a:t>(Pesquisa em Website)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eBay (Pesquisa em sites classificados)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CiteSeerX (Índice para texto completo) 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Apple, Disney, StubHub, entre outros. 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Fonte: https://cwiki.apache.org/confluence/display/solr/PublicServers</a:t>
            </a:r>
            <a:endParaRPr sz="1000"/>
          </a:p>
        </p:txBody>
      </p:sp>
      <p:pic>
        <p:nvPicPr>
          <p:cNvPr id="313" name="Google Shape;3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067" y="4403751"/>
            <a:ext cx="319670" cy="580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8263" y="4403751"/>
            <a:ext cx="1416704" cy="58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0638" y="4403751"/>
            <a:ext cx="1031777" cy="5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9313" y="4403750"/>
            <a:ext cx="1068902" cy="58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5538" y="4401502"/>
            <a:ext cx="582625" cy="5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08163" y="4402628"/>
            <a:ext cx="1031777" cy="5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824000" y="763600"/>
            <a:ext cx="65919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Instalação do Solr na AWS</a:t>
            </a:r>
            <a:endParaRPr sz="4000"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00" y="3231050"/>
            <a:ext cx="2868699" cy="19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090350" y="914600"/>
            <a:ext cx="6963300" cy="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Para criar nosso servidor </a:t>
            </a:r>
            <a:r>
              <a:rPr lang="pt-BR" sz="1600"/>
              <a:t>Solr na AWS, primeiro precisamos criar um “Grupo de Segurança” informando quais </a:t>
            </a:r>
            <a:r>
              <a:rPr lang="pt-BR" sz="1600"/>
              <a:t>serão</a:t>
            </a:r>
            <a:r>
              <a:rPr lang="pt-BR" sz="1600"/>
              <a:t> os IPs utilizados no Solr e no Zookeeper.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0849" y="1783700"/>
            <a:ext cx="5802300" cy="32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090350" y="914600"/>
            <a:ext cx="6963300" cy="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Precisamos modificar as regras para que as instâncias que fazem parte do grupo possam se comunicar com todas as outras instâncias que fazem parte do mesmo grupo. </a:t>
            </a:r>
            <a:endParaRPr sz="1600"/>
          </a:p>
        </p:txBody>
      </p:sp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013" y="2054725"/>
            <a:ext cx="665797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1090350" y="914600"/>
            <a:ext cx="6963300" cy="33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Para iniciar nossa instância, escolhemos a Amazon Machine Image (AMI) e selecionamos a atribuição automática de IP público para que esteja ativada.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Definimos também a capacidade de armazenamento para 8Gb padrão.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 por fim, selecionamos o Grupo de Segurança criado anteriormente. </a:t>
            </a:r>
            <a:endParaRPr sz="1600"/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type="title"/>
          </p:nvPr>
        </p:nvSpPr>
        <p:spPr>
          <a:xfrm>
            <a:off x="1090350" y="1104600"/>
            <a:ext cx="6963300" cy="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Após iniciar a instância certificamos de instalar o Java 8 e o Solar mais recente. </a:t>
            </a:r>
            <a:endParaRPr sz="1600"/>
          </a:p>
        </p:txBody>
      </p:sp>
      <p:pic>
        <p:nvPicPr>
          <p:cNvPr id="351" name="Google Shape;3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75" y="2451965"/>
            <a:ext cx="4497850" cy="153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4650" y="2417375"/>
            <a:ext cx="4265225" cy="16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Como Funciona?</a:t>
            </a:r>
            <a:endParaRPr sz="4000"/>
          </a:p>
        </p:txBody>
      </p:sp>
      <p:pic>
        <p:nvPicPr>
          <p:cNvPr id="359" name="Google Shape;3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00" y="3231050"/>
            <a:ext cx="2868699" cy="19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/>
          <p:nvPr>
            <p:ph type="title"/>
          </p:nvPr>
        </p:nvSpPr>
        <p:spPr>
          <a:xfrm>
            <a:off x="933300" y="775725"/>
            <a:ext cx="5230500" cy="7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Conceitos utilizados no Solr</a:t>
            </a:r>
            <a:endParaRPr sz="2500"/>
          </a:p>
        </p:txBody>
      </p:sp>
      <p:sp>
        <p:nvSpPr>
          <p:cNvPr id="365" name="Google Shape;365;p26"/>
          <p:cNvSpPr txBox="1"/>
          <p:nvPr>
            <p:ph idx="1" type="body"/>
          </p:nvPr>
        </p:nvSpPr>
        <p:spPr>
          <a:xfrm>
            <a:off x="933300" y="1487625"/>
            <a:ext cx="7169700" cy="26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Node (Nó):</a:t>
            </a:r>
            <a:r>
              <a:rPr lang="pt-BR" sz="1400"/>
              <a:t> Na cloud, cada instância do Solr é chamada de nó.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Cluster:</a:t>
            </a:r>
            <a:r>
              <a:rPr lang="pt-BR" sz="1400"/>
              <a:t> Todos os nós combinados formam o cluster.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Collection (Coleção): </a:t>
            </a:r>
            <a:r>
              <a:rPr lang="pt-BR" sz="1400"/>
              <a:t>Um cluster tem um index lógico chamado coleção.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Shard (Fragmento):</a:t>
            </a:r>
            <a:r>
              <a:rPr lang="pt-BR" sz="1400"/>
              <a:t> É um pedaço da coleção que possui uma ou mais réplicas no index.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Réplica:</a:t>
            </a:r>
            <a:r>
              <a:rPr lang="pt-BR" sz="1400"/>
              <a:t> É a cópia de um fragmento armazenado em algum nó.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Leader (Líder):</a:t>
            </a:r>
            <a:r>
              <a:rPr lang="pt-BR" sz="1400"/>
              <a:t> Também é uma cópia de um fragmento, porém ele tem a função de distribuir os “requests” para as outras réplicas.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BR" sz="1400"/>
              <a:t>Zookeeper:</a:t>
            </a:r>
            <a:r>
              <a:rPr lang="pt-BR" sz="1400"/>
              <a:t> É um projeto Apache que o Solr utiliza para centralizar a configuração e a coordenação dos nós no cluster. </a:t>
            </a:r>
            <a:endParaRPr sz="1400"/>
          </a:p>
        </p:txBody>
      </p:sp>
      <p:pic>
        <p:nvPicPr>
          <p:cNvPr id="366" name="Google Shape;3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494250" y="914475"/>
            <a:ext cx="8155500" cy="3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11"/>
              <a:t>O Solr foi projetado como um banco de dados estruturado em documentos, onde esses documento são armazenados em coleções, semelhante à tabelas não relacionais encontradas em banco de dados. </a:t>
            </a:r>
            <a:endParaRPr sz="17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11"/>
              <a:t>A capacidade de busca avançada do Solr é possível por meio da utilização de um sistema de indexação que mapeia os termos de acordo com suas ocorrências, denominado como “index invertido”. </a:t>
            </a:r>
            <a:endParaRPr sz="17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11"/>
              <a:t>Em uma pesquisa convencional em uma base de dados, o resultado retorna somente um casamento exato ou casamento aproximado extremamente poluído. Já utilizando o “index invertido” temos algumas funcionalidades adicionais que permitem fazer esse casamento aproximado devolvendo os resultados mais relevantes para a pesquisa do usuário. </a:t>
            </a:r>
            <a:endParaRPr sz="1711"/>
          </a:p>
        </p:txBody>
      </p:sp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</a:t>
            </a:r>
            <a:endParaRPr/>
          </a:p>
        </p:txBody>
      </p:sp>
      <p:pic>
        <p:nvPicPr>
          <p:cNvPr id="378" name="Google Shape;3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8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1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4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27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067" y="29483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1337" y="1597875"/>
            <a:ext cx="1121375" cy="460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28"/>
          <p:cNvCxnSpPr>
            <a:stCxn id="384" idx="1"/>
            <a:endCxn id="378" idx="0"/>
          </p:cNvCxnSpPr>
          <p:nvPr/>
        </p:nvCxnSpPr>
        <p:spPr>
          <a:xfrm flipH="1">
            <a:off x="1236337" y="18280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86" name="Google Shape;386;p28"/>
          <p:cNvCxnSpPr>
            <a:stCxn id="384" idx="2"/>
            <a:endCxn id="379" idx="0"/>
          </p:cNvCxnSpPr>
          <p:nvPr/>
        </p:nvCxnSpPr>
        <p:spPr>
          <a:xfrm flipH="1">
            <a:off x="2570424" y="2058172"/>
            <a:ext cx="20016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87" name="Google Shape;387;p28"/>
          <p:cNvCxnSpPr>
            <a:stCxn id="384" idx="2"/>
            <a:endCxn id="382" idx="0"/>
          </p:cNvCxnSpPr>
          <p:nvPr/>
        </p:nvCxnSpPr>
        <p:spPr>
          <a:xfrm>
            <a:off x="4572024" y="2058172"/>
            <a:ext cx="20013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88" name="Google Shape;388;p28"/>
          <p:cNvCxnSpPr>
            <a:stCxn id="384" idx="3"/>
            <a:endCxn id="383" idx="0"/>
          </p:cNvCxnSpPr>
          <p:nvPr/>
        </p:nvCxnSpPr>
        <p:spPr>
          <a:xfrm>
            <a:off x="5132712" y="18280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89" name="Google Shape;389;p28"/>
          <p:cNvSpPr txBox="1"/>
          <p:nvPr/>
        </p:nvSpPr>
        <p:spPr>
          <a:xfrm>
            <a:off x="675600" y="4220100"/>
            <a:ext cx="779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"/>
                <a:ea typeface="Roboto"/>
                <a:cs typeface="Roboto"/>
                <a:sym typeface="Roboto"/>
              </a:rPr>
              <a:t>O Apache Zookeeper é um serviço de sincronização replicado com consistência eventual. Ao ser instalado e configurado em cada um dos hosts, ele permite a execução de aplicações distribuídas dentro desse cluster de nós criados.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Roboto"/>
                <a:ea typeface="Roboto"/>
                <a:cs typeface="Roboto"/>
                <a:sym typeface="Roboto"/>
              </a:rPr>
              <a:t>O Apache Solr dependem do Zookeeper para fazer a distribuição dos dados e seu acesso.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28"/>
          <p:cNvCxnSpPr>
            <a:stCxn id="384" idx="2"/>
            <a:endCxn id="380" idx="0"/>
          </p:cNvCxnSpPr>
          <p:nvPr/>
        </p:nvCxnSpPr>
        <p:spPr>
          <a:xfrm flipH="1">
            <a:off x="3904824" y="20581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28"/>
          <p:cNvCxnSpPr>
            <a:stCxn id="384" idx="2"/>
            <a:endCxn id="381" idx="0"/>
          </p:cNvCxnSpPr>
          <p:nvPr/>
        </p:nvCxnSpPr>
        <p:spPr>
          <a:xfrm>
            <a:off x="4572024" y="20581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2" name="Google Shape;3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03800" y="4138975"/>
            <a:ext cx="71646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Solr funciona em uma arquitetura onde não existe master-worker. Todo nó é master de 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próprio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 eles utilizam o Zookeeper para saber o estado do resto do cluster. </a:t>
            </a:r>
            <a:endParaRPr/>
          </a:p>
        </p:txBody>
      </p:sp>
      <p:pic>
        <p:nvPicPr>
          <p:cNvPr id="398" name="Google Shape;3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337" y="1089275"/>
            <a:ext cx="1121375" cy="460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29"/>
          <p:cNvCxnSpPr>
            <a:stCxn id="398" idx="1"/>
            <a:endCxn id="400" idx="0"/>
          </p:cNvCxnSpPr>
          <p:nvPr/>
        </p:nvCxnSpPr>
        <p:spPr>
          <a:xfrm flipH="1">
            <a:off x="1236337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1" name="Google Shape;401;p29"/>
          <p:cNvCxnSpPr>
            <a:stCxn id="398" idx="2"/>
            <a:endCxn id="402" idx="0"/>
          </p:cNvCxnSpPr>
          <p:nvPr/>
        </p:nvCxnSpPr>
        <p:spPr>
          <a:xfrm flipH="1">
            <a:off x="2570424" y="1549572"/>
            <a:ext cx="20016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3" name="Google Shape;403;p29"/>
          <p:cNvCxnSpPr>
            <a:stCxn id="398" idx="2"/>
            <a:endCxn id="404" idx="0"/>
          </p:cNvCxnSpPr>
          <p:nvPr/>
        </p:nvCxnSpPr>
        <p:spPr>
          <a:xfrm>
            <a:off x="4572024" y="1549572"/>
            <a:ext cx="20013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5" name="Google Shape;405;p29"/>
          <p:cNvCxnSpPr>
            <a:stCxn id="398" idx="3"/>
            <a:endCxn id="406" idx="0"/>
          </p:cNvCxnSpPr>
          <p:nvPr/>
        </p:nvCxnSpPr>
        <p:spPr>
          <a:xfrm>
            <a:off x="5132712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7" name="Google Shape;407;p29"/>
          <p:cNvCxnSpPr>
            <a:stCxn id="398" idx="2"/>
            <a:endCxn id="408" idx="0"/>
          </p:cNvCxnSpPr>
          <p:nvPr/>
        </p:nvCxnSpPr>
        <p:spPr>
          <a:xfrm flipH="1">
            <a:off x="39048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29"/>
          <p:cNvCxnSpPr>
            <a:stCxn id="398" idx="2"/>
            <a:endCxn id="410" idx="0"/>
          </p:cNvCxnSpPr>
          <p:nvPr/>
        </p:nvCxnSpPr>
        <p:spPr>
          <a:xfrm>
            <a:off x="45720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0" name="Google Shape;4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8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41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84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7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70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9"/>
          <p:cNvSpPr txBox="1"/>
          <p:nvPr/>
        </p:nvSpPr>
        <p:spPr>
          <a:xfrm>
            <a:off x="94675" y="871450"/>
            <a:ext cx="335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"/>
                <a:ea typeface="Roboto"/>
                <a:cs typeface="Roboto"/>
                <a:sym typeface="Roboto"/>
              </a:rPr>
              <a:t>Cada máquina roda uma instância do Solr.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"/>
                <a:ea typeface="Roboto"/>
                <a:cs typeface="Roboto"/>
                <a:sym typeface="Roboto"/>
              </a:rPr>
              <a:t>No cluster, cada instância é chamada de nó.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17" name="Google Shape;417;p29"/>
          <p:cNvCxnSpPr>
            <a:endCxn id="400" idx="1"/>
          </p:cNvCxnSpPr>
          <p:nvPr/>
        </p:nvCxnSpPr>
        <p:spPr>
          <a:xfrm rot="5400000">
            <a:off x="423567" y="1646700"/>
            <a:ext cx="1679100" cy="1175100"/>
          </a:xfrm>
          <a:prstGeom prst="curvedConnector4">
            <a:avLst>
              <a:gd fmla="val 31119" name="adj1"/>
              <a:gd fmla="val 12026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418" name="Google Shape;41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"/>
          <p:cNvSpPr txBox="1"/>
          <p:nvPr>
            <p:ph idx="1" type="body"/>
          </p:nvPr>
        </p:nvSpPr>
        <p:spPr>
          <a:xfrm>
            <a:off x="1303800" y="4138975"/>
            <a:ext cx="71646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Um nó não publica suas métricas automaticamente. É necessário utilizar o Solr Metric Process, que executa separado do Solr Node para obter as métricas.</a:t>
            </a:r>
            <a:endParaRPr/>
          </a:p>
        </p:txBody>
      </p:sp>
      <p:pic>
        <p:nvPicPr>
          <p:cNvPr id="424" name="Google Shape;4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337" y="1089275"/>
            <a:ext cx="1121375" cy="460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30"/>
          <p:cNvCxnSpPr>
            <a:stCxn id="424" idx="1"/>
            <a:endCxn id="426" idx="0"/>
          </p:cNvCxnSpPr>
          <p:nvPr/>
        </p:nvCxnSpPr>
        <p:spPr>
          <a:xfrm flipH="1">
            <a:off x="1236337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27" name="Google Shape;427;p30"/>
          <p:cNvCxnSpPr>
            <a:stCxn id="424" idx="2"/>
            <a:endCxn id="428" idx="0"/>
          </p:cNvCxnSpPr>
          <p:nvPr/>
        </p:nvCxnSpPr>
        <p:spPr>
          <a:xfrm flipH="1">
            <a:off x="2570424" y="1549572"/>
            <a:ext cx="20016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29" name="Google Shape;429;p30"/>
          <p:cNvCxnSpPr>
            <a:stCxn id="424" idx="2"/>
            <a:endCxn id="430" idx="0"/>
          </p:cNvCxnSpPr>
          <p:nvPr/>
        </p:nvCxnSpPr>
        <p:spPr>
          <a:xfrm>
            <a:off x="4572024" y="1549572"/>
            <a:ext cx="20013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31" name="Google Shape;431;p30"/>
          <p:cNvCxnSpPr>
            <a:stCxn id="424" idx="3"/>
            <a:endCxn id="432" idx="0"/>
          </p:cNvCxnSpPr>
          <p:nvPr/>
        </p:nvCxnSpPr>
        <p:spPr>
          <a:xfrm>
            <a:off x="5132712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33" name="Google Shape;433;p30"/>
          <p:cNvCxnSpPr>
            <a:stCxn id="424" idx="2"/>
            <a:endCxn id="434" idx="0"/>
          </p:cNvCxnSpPr>
          <p:nvPr/>
        </p:nvCxnSpPr>
        <p:spPr>
          <a:xfrm flipH="1">
            <a:off x="39048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30"/>
          <p:cNvCxnSpPr>
            <a:stCxn id="424" idx="2"/>
            <a:endCxn id="436" idx="0"/>
          </p:cNvCxnSpPr>
          <p:nvPr/>
        </p:nvCxnSpPr>
        <p:spPr>
          <a:xfrm>
            <a:off x="45720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7" name="Google Shape;4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5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8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41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84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7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70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1"/>
          <p:cNvSpPr txBox="1"/>
          <p:nvPr>
            <p:ph idx="1" type="body"/>
          </p:nvPr>
        </p:nvSpPr>
        <p:spPr>
          <a:xfrm>
            <a:off x="1303800" y="4138975"/>
            <a:ext cx="7164600" cy="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Quando uma nova coleção é criada no cluster, é necessário definir o número de shards e o fator de replicação. Nesse caso, vamos utilizar</a:t>
            </a:r>
            <a:r>
              <a:rPr b="1"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3 shards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 um </a:t>
            </a:r>
            <a:r>
              <a:rPr b="1"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fator de replicação 2</a:t>
            </a: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No total, teremos então 6 shards criados. </a:t>
            </a:r>
            <a:endParaRPr/>
          </a:p>
        </p:txBody>
      </p:sp>
      <p:pic>
        <p:nvPicPr>
          <p:cNvPr id="449" name="Google Shape;4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337" y="1089275"/>
            <a:ext cx="1121375" cy="460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31"/>
          <p:cNvCxnSpPr>
            <a:stCxn id="449" idx="1"/>
            <a:endCxn id="451" idx="0"/>
          </p:cNvCxnSpPr>
          <p:nvPr/>
        </p:nvCxnSpPr>
        <p:spPr>
          <a:xfrm flipH="1">
            <a:off x="1236337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52" name="Google Shape;452;p31"/>
          <p:cNvCxnSpPr>
            <a:stCxn id="449" idx="2"/>
            <a:endCxn id="453" idx="0"/>
          </p:cNvCxnSpPr>
          <p:nvPr/>
        </p:nvCxnSpPr>
        <p:spPr>
          <a:xfrm flipH="1">
            <a:off x="2570424" y="1549572"/>
            <a:ext cx="20016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54" name="Google Shape;454;p31"/>
          <p:cNvCxnSpPr>
            <a:stCxn id="449" idx="2"/>
            <a:endCxn id="455" idx="0"/>
          </p:cNvCxnSpPr>
          <p:nvPr/>
        </p:nvCxnSpPr>
        <p:spPr>
          <a:xfrm>
            <a:off x="4572024" y="1549572"/>
            <a:ext cx="20013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56" name="Google Shape;456;p31"/>
          <p:cNvCxnSpPr>
            <a:stCxn id="449" idx="3"/>
            <a:endCxn id="457" idx="0"/>
          </p:cNvCxnSpPr>
          <p:nvPr/>
        </p:nvCxnSpPr>
        <p:spPr>
          <a:xfrm>
            <a:off x="5132712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58" name="Google Shape;458;p31"/>
          <p:cNvCxnSpPr>
            <a:stCxn id="449" idx="2"/>
            <a:endCxn id="459" idx="0"/>
          </p:cNvCxnSpPr>
          <p:nvPr/>
        </p:nvCxnSpPr>
        <p:spPr>
          <a:xfrm flipH="1">
            <a:off x="39048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31"/>
          <p:cNvCxnSpPr>
            <a:stCxn id="449" idx="2"/>
            <a:endCxn id="461" idx="0"/>
          </p:cNvCxnSpPr>
          <p:nvPr/>
        </p:nvCxnSpPr>
        <p:spPr>
          <a:xfrm>
            <a:off x="45720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62" name="Google Shape;4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8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84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70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5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6974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6974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41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6399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16399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127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85824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85824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1"/>
          <p:cNvSpPr txBox="1"/>
          <p:nvPr/>
        </p:nvSpPr>
        <p:spPr>
          <a:xfrm>
            <a:off x="94675" y="871450"/>
            <a:ext cx="34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oboto"/>
                <a:ea typeface="Roboto"/>
                <a:cs typeface="Roboto"/>
                <a:sym typeface="Roboto"/>
              </a:rPr>
              <a:t>Se o primeiro nó cair, os dados do shard 1 podem ser recuperados da </a:t>
            </a:r>
            <a:r>
              <a:rPr lang="pt-BR" sz="1100">
                <a:latin typeface="Roboto"/>
                <a:ea typeface="Roboto"/>
                <a:cs typeface="Roboto"/>
                <a:sym typeface="Roboto"/>
              </a:rPr>
              <a:t>réplica</a:t>
            </a:r>
            <a:r>
              <a:rPr lang="pt-BR" sz="1100">
                <a:latin typeface="Roboto"/>
                <a:ea typeface="Roboto"/>
                <a:cs typeface="Roboto"/>
                <a:sym typeface="Roboto"/>
              </a:rPr>
              <a:t> contida no terceiro host.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76" name="Google Shape;476;p31"/>
          <p:cNvCxnSpPr/>
          <p:nvPr/>
        </p:nvCxnSpPr>
        <p:spPr>
          <a:xfrm rot="5400000">
            <a:off x="423567" y="1646700"/>
            <a:ext cx="1679100" cy="1175100"/>
          </a:xfrm>
          <a:prstGeom prst="curvedConnector4">
            <a:avLst>
              <a:gd fmla="val 31119" name="adj1"/>
              <a:gd fmla="val 120264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/>
          <p:nvPr>
            <p:ph idx="1" type="body"/>
          </p:nvPr>
        </p:nvSpPr>
        <p:spPr>
          <a:xfrm>
            <a:off x="1303800" y="4138975"/>
            <a:ext cx="7164600" cy="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Quando um conjunto de livros é cadastrado em uma biblioteca, o usuário não tem ideia de que, internamente, os livros estão sendo divididos entre os “shards” e salvos localmente na memória de cada node. </a:t>
            </a:r>
            <a:endParaRPr/>
          </a:p>
        </p:txBody>
      </p:sp>
      <p:pic>
        <p:nvPicPr>
          <p:cNvPr id="482" name="Google Shape;4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337" y="1089275"/>
            <a:ext cx="1121375" cy="460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32"/>
          <p:cNvCxnSpPr>
            <a:stCxn id="482" idx="1"/>
            <a:endCxn id="484" idx="0"/>
          </p:cNvCxnSpPr>
          <p:nvPr/>
        </p:nvCxnSpPr>
        <p:spPr>
          <a:xfrm flipH="1">
            <a:off x="1236337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85" name="Google Shape;485;p32"/>
          <p:cNvCxnSpPr>
            <a:stCxn id="482" idx="2"/>
            <a:endCxn id="486" idx="0"/>
          </p:cNvCxnSpPr>
          <p:nvPr/>
        </p:nvCxnSpPr>
        <p:spPr>
          <a:xfrm flipH="1">
            <a:off x="2570424" y="1549572"/>
            <a:ext cx="20016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87" name="Google Shape;487;p32"/>
          <p:cNvCxnSpPr>
            <a:stCxn id="482" idx="2"/>
            <a:endCxn id="488" idx="0"/>
          </p:cNvCxnSpPr>
          <p:nvPr/>
        </p:nvCxnSpPr>
        <p:spPr>
          <a:xfrm>
            <a:off x="4572024" y="1549572"/>
            <a:ext cx="2001300" cy="8901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89" name="Google Shape;489;p32"/>
          <p:cNvCxnSpPr>
            <a:stCxn id="482" idx="3"/>
            <a:endCxn id="490" idx="0"/>
          </p:cNvCxnSpPr>
          <p:nvPr/>
        </p:nvCxnSpPr>
        <p:spPr>
          <a:xfrm>
            <a:off x="5132712" y="1319424"/>
            <a:ext cx="2775000" cy="1120200"/>
          </a:xfrm>
          <a:prstGeom prst="straightConnector1">
            <a:avLst/>
          </a:prstGeom>
          <a:noFill/>
          <a:ln cap="flat" cmpd="sng" w="9525">
            <a:solidFill>
              <a:srgbClr val="DA4327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91" name="Google Shape;491;p32"/>
          <p:cNvCxnSpPr>
            <a:stCxn id="482" idx="2"/>
            <a:endCxn id="492" idx="0"/>
          </p:cNvCxnSpPr>
          <p:nvPr/>
        </p:nvCxnSpPr>
        <p:spPr>
          <a:xfrm flipH="1">
            <a:off x="39048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32"/>
          <p:cNvCxnSpPr>
            <a:stCxn id="482" idx="2"/>
            <a:endCxn id="494" idx="0"/>
          </p:cNvCxnSpPr>
          <p:nvPr/>
        </p:nvCxnSpPr>
        <p:spPr>
          <a:xfrm>
            <a:off x="4572024" y="1549572"/>
            <a:ext cx="667200" cy="89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5" name="Google Shape;49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37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84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353" y="2439725"/>
            <a:ext cx="1121375" cy="154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749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749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4178" y="2439725"/>
            <a:ext cx="1121375" cy="154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16399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6399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2778" y="2439725"/>
            <a:ext cx="1121375" cy="154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85824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85824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7067" y="2439725"/>
            <a:ext cx="1121375" cy="126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0124" y="2918500"/>
            <a:ext cx="443150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20124" y="3223300"/>
            <a:ext cx="443150" cy="2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Demonstração</a:t>
            </a:r>
            <a:endParaRPr sz="4000"/>
          </a:p>
        </p:txBody>
      </p:sp>
      <p:pic>
        <p:nvPicPr>
          <p:cNvPr id="515" name="Google Shape;5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300" y="3231050"/>
            <a:ext cx="2868699" cy="19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Ambiente de trabalho do Solr</a:t>
            </a:r>
            <a:endParaRPr/>
          </a:p>
        </p:txBody>
      </p:sp>
      <p:pic>
        <p:nvPicPr>
          <p:cNvPr id="521" name="Google Shape;5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900" y="1424725"/>
            <a:ext cx="7244197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Cluster com seis nós</a:t>
            </a:r>
            <a:endParaRPr/>
          </a:p>
        </p:txBody>
      </p:sp>
      <p:pic>
        <p:nvPicPr>
          <p:cNvPr id="528" name="Google Shape;5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763" y="1263100"/>
            <a:ext cx="5458474" cy="3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da </a:t>
            </a:r>
            <a:r>
              <a:rPr lang="pt-BR"/>
              <a:t>solução</a:t>
            </a:r>
            <a:endParaRPr/>
          </a:p>
        </p:txBody>
      </p:sp>
      <p:pic>
        <p:nvPicPr>
          <p:cNvPr id="535" name="Google Shape;5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37" y="1387525"/>
            <a:ext cx="8106124" cy="344904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6"/>
          <p:cNvSpPr txBox="1"/>
          <p:nvPr/>
        </p:nvSpPr>
        <p:spPr>
          <a:xfrm>
            <a:off x="1558488" y="2906600"/>
            <a:ext cx="602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Criamos uma coleção chamada “teste” com três “fragmentos”, onde cada “fragmento” possui duas “réplicas”. Uma das “réplicas” é denominada “líder”, caso algum “líder” caia, uma das outras “réplicas” é automaticamente eleita como novo “líder”. 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Observação: Cada “réplica” é criada em um “nó” diferente. 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37" name="Google Shape;5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 txBox="1"/>
          <p:nvPr>
            <p:ph type="title"/>
          </p:nvPr>
        </p:nvSpPr>
        <p:spPr>
          <a:xfrm>
            <a:off x="494250" y="1182900"/>
            <a:ext cx="8155500" cy="23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Quando um documento é enviado a um nó do Solr para indexação, o sistema primeiro determina a qual fragmento esse documento pertence e, em seguida, qual nó está atualmente hospedando o líder desse fragmento. 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documento é então encaminhado para o líder atual para indexação, e o líder encaminha a atualização para todas as outras réplicas. </a:t>
            </a:r>
            <a:endParaRPr sz="2000"/>
          </a:p>
        </p:txBody>
      </p:sp>
      <p:pic>
        <p:nvPicPr>
          <p:cNvPr id="543" name="Google Shape;5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Indexando um documento</a:t>
            </a:r>
            <a:endParaRPr/>
          </a:p>
        </p:txBody>
      </p:sp>
      <p:pic>
        <p:nvPicPr>
          <p:cNvPr id="549" name="Google Shape;5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863" y="1597875"/>
            <a:ext cx="6968276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Indexando um documento</a:t>
            </a:r>
            <a:endParaRPr/>
          </a:p>
        </p:txBody>
      </p:sp>
      <p:pic>
        <p:nvPicPr>
          <p:cNvPr id="556" name="Google Shape;5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325" y="1597875"/>
            <a:ext cx="6837349" cy="32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Realizando uma busca </a:t>
            </a:r>
            <a:r>
              <a:rPr lang="pt-BR"/>
              <a:t>distribuída</a:t>
            </a:r>
            <a:r>
              <a:rPr lang="pt-BR"/>
              <a:t> </a:t>
            </a:r>
            <a:endParaRPr/>
          </a:p>
        </p:txBody>
      </p:sp>
      <p:pic>
        <p:nvPicPr>
          <p:cNvPr id="563" name="Google Shape;5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100" y="0"/>
            <a:ext cx="1656900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9263" y="1597875"/>
            <a:ext cx="6685476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Muito Obrigado!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